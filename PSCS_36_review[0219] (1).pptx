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4" r:id="rId5"/>
    <p:sldId id="275" r:id="rId6"/>
    <p:sldId id="273" r:id="rId7"/>
    <p:sldId id="276" r:id="rId8"/>
    <p:sldId id="268" r:id="rId9"/>
    <p:sldId id="272" r:id="rId10"/>
    <p:sldId id="271"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FA11B5-D624-43ED-B416-B792C03E0CD7}" v="1" dt="2025-08-13T07:05:53.572"/>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9877531" cy="962898"/>
          </a:xfrm>
          <a:prstGeom prst="rect">
            <a:avLst/>
          </a:prstGeom>
          <a:noFill/>
          <a:ln>
            <a:noFill/>
          </a:ln>
        </p:spPr>
        <p:txBody>
          <a:bodyPr spcFirstLastPara="1" wrap="square" lIns="91425" tIns="45700" rIns="91425" bIns="45700" anchor="ctr" anchorCtr="0">
            <a:noAutofit/>
          </a:bodyPr>
          <a:lstStyle/>
          <a:p>
            <a:pPr lvl="0" algn="ctr"/>
            <a:r>
              <a:rPr lang="en-US" sz="1800" dirty="0">
                <a:solidFill>
                  <a:schemeClr val="tx1"/>
                </a:solidFill>
                <a:latin typeface="Cambria" panose="02040503050406030204" pitchFamily="18" charset="0"/>
                <a:ea typeface="Cambria" panose="02040503050406030204" pitchFamily="18" charset="0"/>
              </a:rPr>
              <a:t>Text to Video of various PIB Press Releases using Artificial Intelligence /Machine Learning/Generative Adversarial Networks in English and 13 Regional Languages viz. Hindi, Urdu, Punjabi, Gujarati, Marathi, Telugu, Kannada, Malayalam, Tamil, Odia, Bengali, Assamese and Manipuri</a:t>
            </a:r>
            <a:endParaRPr sz="18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a:t>
            </a:r>
            <a:r>
              <a:rPr lang="en-GB" sz="1800">
                <a:latin typeface="Cambria" panose="02040503050406030204" pitchFamily="18" charset="0"/>
                <a:ea typeface="Cambria" panose="02040503050406030204" pitchFamily="18" charset="0"/>
              </a:rPr>
              <a:t>Number: PSCS_36</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8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Dr.</a:t>
            </a:r>
            <a:r>
              <a:rPr lang="en-GB" sz="1800" b="1" dirty="0" err="1">
                <a:solidFill>
                  <a:srgbClr val="17365D"/>
                </a:solidFill>
                <a:latin typeface="Cambria" panose="02040503050406030204" pitchFamily="18" charset="0"/>
                <a:ea typeface="Cambria" panose="02040503050406030204" pitchFamily="18" charset="0"/>
                <a:cs typeface="Verdana"/>
                <a:sym typeface="Verdana"/>
              </a:rPr>
              <a:t>Jayavadivel</a:t>
            </a:r>
            <a:r>
              <a:rPr lang="en-GB" sz="1800" b="1"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err="1">
                <a:solidFill>
                  <a:srgbClr val="17365D"/>
                </a:solidFill>
                <a:latin typeface="Cambria" panose="02040503050406030204" pitchFamily="18" charset="0"/>
                <a:ea typeface="Cambria" panose="02040503050406030204" pitchFamily="18" charset="0"/>
                <a:cs typeface="Verdana"/>
                <a:sym typeface="Verdana"/>
              </a:rPr>
              <a:t>pavi</a:t>
            </a:r>
            <a:endParaRPr lang="en-US" sz="18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830794849"/>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20221CSE0219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err="1"/>
                        <a:t>G.Greeshma</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20221CSE0205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u="none" strike="noStrike" cap="none" dirty="0" err="1"/>
                        <a:t>Tabjula</a:t>
                      </a:r>
                      <a:r>
                        <a:rPr lang="en-US" sz="1800" u="none" strike="noStrike" cap="none" dirty="0"/>
                        <a:t> Bhavani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sz="1800" u="none" strike="noStrike" cap="none" dirty="0"/>
                        <a:t>20221CSE0194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err="1"/>
                        <a:t>Bestha</a:t>
                      </a:r>
                      <a:r>
                        <a:rPr lang="en-US" sz="1800" u="none" strike="noStrike" cap="none" dirty="0"/>
                        <a:t> Narendra </a:t>
                      </a:r>
                      <a:r>
                        <a:rPr lang="en-US" sz="1800" u="none" strike="noStrike" cap="none" dirty="0" err="1"/>
                        <a:t>kumar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CSE</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a:t>
            </a:r>
            <a:r>
              <a:rPr lang="en-US" sz="1800" b="1" dirty="0">
                <a:solidFill>
                  <a:srgbClr val="FF0000"/>
                </a:solidFill>
                <a:latin typeface="Cambria" panose="02040503050406030204" pitchFamily="18" charset="0"/>
                <a:ea typeface="Cambria" panose="02040503050406030204" pitchFamily="18" charset="0"/>
                <a:cs typeface="Verdana"/>
                <a:sym typeface="Verdana"/>
              </a:rPr>
              <a:t> Dr Asif Mohammed</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a:t>
            </a:r>
            <a:r>
              <a:rPr lang="en-US" sz="1800" b="1" dirty="0">
                <a:solidFill>
                  <a:srgbClr val="FF0000"/>
                </a:solidFill>
                <a:latin typeface="Cambria" panose="02040503050406030204" pitchFamily="18" charset="0"/>
                <a:ea typeface="Cambria" panose="02040503050406030204" pitchFamily="18" charset="0"/>
                <a:cs typeface="Verdana"/>
                <a:sym typeface="Verdana"/>
              </a:rPr>
              <a:t>r. </a:t>
            </a:r>
            <a:r>
              <a:rPr lang="en-US" sz="1800" b="1" dirty="0" err="1">
                <a:solidFill>
                  <a:srgbClr val="FF0000"/>
                </a:solidFill>
                <a:latin typeface="Cambria" panose="02040503050406030204" pitchFamily="18" charset="0"/>
                <a:ea typeface="Cambria" panose="02040503050406030204" pitchFamily="18" charset="0"/>
                <a:cs typeface="Verdana"/>
                <a:sym typeface="Verdana"/>
              </a:rPr>
              <a:t>Jayavadivel</a:t>
            </a:r>
            <a:r>
              <a:rPr lang="en-US" sz="1800" b="1" dirty="0">
                <a:solidFill>
                  <a:srgbClr val="FF0000"/>
                </a:solidFill>
                <a:latin typeface="Cambria" panose="02040503050406030204" pitchFamily="18" charset="0"/>
                <a:ea typeface="Cambria" panose="02040503050406030204" pitchFamily="18" charset="0"/>
                <a:cs typeface="Verdana"/>
                <a:sym typeface="Verdana"/>
              </a:rPr>
              <a:t> Ravi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PSCS_36</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a:bodyPr>
          <a:lstStyle/>
          <a:p>
            <a:pPr marL="342900" lvl="0" indent="-190500" algn="just">
              <a:spcBef>
                <a:spcPts val="0"/>
              </a:spcBef>
              <a:buNone/>
            </a:pPr>
            <a:r>
              <a:rPr lang="en-US" sz="2100" b="1" dirty="0">
                <a:latin typeface="Cambria" panose="02040503050406030204" pitchFamily="18" charset="0"/>
                <a:ea typeface="Cambria" panose="02040503050406030204" pitchFamily="18" charset="0"/>
              </a:rPr>
              <a:t>Organization</a:t>
            </a:r>
            <a:r>
              <a:rPr lang="en-US" sz="2100" dirty="0">
                <a:latin typeface="Cambria" panose="02040503050406030204" pitchFamily="18" charset="0"/>
                <a:ea typeface="Cambria" panose="02040503050406030204" pitchFamily="18" charset="0"/>
              </a:rPr>
              <a:t>: Press Information Bureau (PIB), Government of India </a:t>
            </a:r>
          </a:p>
          <a:p>
            <a:pPr marL="342900" lvl="0" indent="-190500" algn="just">
              <a:lnSpc>
                <a:spcPct val="200000"/>
              </a:lnSpc>
              <a:spcBef>
                <a:spcPts val="0"/>
              </a:spcBef>
              <a:buNone/>
            </a:pPr>
            <a:r>
              <a:rPr lang="en-US" sz="2100" dirty="0">
                <a:latin typeface="Cambria" panose="02040503050406030204" pitchFamily="18" charset="0"/>
                <a:ea typeface="Cambria" panose="02040503050406030204" pitchFamily="18" charset="0"/>
              </a:rPr>
              <a:t> </a:t>
            </a:r>
            <a:r>
              <a:rPr lang="en-US" sz="2100" b="1" dirty="0">
                <a:latin typeface="Cambria" panose="02040503050406030204" pitchFamily="18" charset="0"/>
                <a:ea typeface="Cambria" panose="02040503050406030204" pitchFamily="18" charset="0"/>
              </a:rPr>
              <a:t>Software   :</a:t>
            </a:r>
            <a:r>
              <a:rPr lang="en-US" sz="2100" dirty="0">
                <a:latin typeface="Cambria" panose="02040503050406030204" pitchFamily="18" charset="0"/>
                <a:ea typeface="Cambria" panose="02040503050406030204" pitchFamily="18" charset="0"/>
              </a:rPr>
              <a:t>— AI/NLP/TTS/Video Automation System</a:t>
            </a:r>
          </a:p>
          <a:p>
            <a:pPr marL="342900" lvl="0" indent="-190500" algn="just">
              <a:lnSpc>
                <a:spcPct val="200000"/>
              </a:lnSpc>
              <a:spcBef>
                <a:spcPts val="0"/>
              </a:spcBef>
              <a:buNone/>
            </a:pPr>
            <a:r>
              <a:rPr lang="en-US" sz="2100" b="1" dirty="0">
                <a:latin typeface="Cambria" panose="02040503050406030204" pitchFamily="18" charset="0"/>
                <a:ea typeface="Cambria" panose="02040503050406030204" pitchFamily="18" charset="0"/>
              </a:rPr>
              <a:t>Problem Description : </a:t>
            </a:r>
            <a:r>
              <a:rPr lang="en-US" sz="2100" dirty="0">
                <a:latin typeface="Cambria" panose="02040503050406030204" pitchFamily="18" charset="0"/>
                <a:ea typeface="Cambria" panose="02040503050406030204" pitchFamily="18" charset="0"/>
              </a:rPr>
              <a:t>The Press Information Bureau (PIB), as the Government of India’s primary communication channel, releases official news and press statements in English. However, due to India’s linguistic diversity, these updates need to be made available in multiple regional languages to ensure equitable access to information. Presently, this process involves manual translation, human voiceover recording, and manual video editing—steps that consume significant time and resources, causing delays in news delivery</a:t>
            </a:r>
            <a:r>
              <a:rPr lang="en-US" sz="2400"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5042682"/>
          </a:xfrm>
          <a:prstGeom prst="rect">
            <a:avLst/>
          </a:prstGeom>
          <a:noFill/>
          <a:ln>
            <a:noFill/>
          </a:ln>
        </p:spPr>
        <p:txBody>
          <a:bodyPr spcFirstLastPara="1" wrap="square" lIns="91425" tIns="45700" rIns="91425" bIns="45700" anchor="t" anchorCtr="0">
            <a:normAutofit fontScale="47500" lnSpcReduction="20000"/>
          </a:bodyPr>
          <a:lstStyle/>
          <a:p>
            <a:pPr marL="495300" indent="-342900" algn="just">
              <a:lnSpc>
                <a:spcPct val="200000"/>
              </a:lnSpc>
              <a:spcBef>
                <a:spcPts val="0"/>
              </a:spcBef>
              <a:buFont typeface="Arial" panose="020B0604020202020204" pitchFamily="34" charset="0"/>
              <a:buChar char="•"/>
            </a:pPr>
            <a:r>
              <a:rPr lang="en-US" sz="3800" b="1" dirty="0">
                <a:latin typeface="Cambria" panose="02040503050406030204" pitchFamily="18" charset="0"/>
                <a:ea typeface="Cambria" panose="02040503050406030204" pitchFamily="18" charset="0"/>
              </a:rPr>
              <a:t>Problem Statement</a:t>
            </a:r>
            <a:r>
              <a:rPr lang="en-US" sz="3800" dirty="0">
                <a:latin typeface="Cambria" panose="02040503050406030204" pitchFamily="18" charset="0"/>
                <a:ea typeface="Cambria" panose="02040503050406030204" pitchFamily="18" charset="0"/>
              </a:rPr>
              <a:t>: </a:t>
            </a:r>
            <a:r>
              <a:rPr lang="en-US" sz="3300" dirty="0">
                <a:latin typeface="Cambria" panose="02040503050406030204" pitchFamily="18" charset="0"/>
                <a:ea typeface="Cambria" panose="02040503050406030204" pitchFamily="18" charset="0"/>
              </a:rPr>
              <a:t>The Press Information Bureau (PIB) publishes official press releases in English, but a significant portion of India’s multilingual population requires timely updates in regional languages. The current workflow—manual translation, narration, and video production—is slow, resource-heavy, and inconsistent in quality. This project proposes developing an AI-powered multilingual news automation system capable of translating content, generating natural voice narrations, and assembling professional news-style videos to ensure faster and broader information dissemination.</a:t>
            </a:r>
          </a:p>
          <a:p>
            <a:pPr marL="495300" indent="-342900" algn="just">
              <a:lnSpc>
                <a:spcPct val="200000"/>
              </a:lnSpc>
              <a:spcBef>
                <a:spcPts val="0"/>
              </a:spcBef>
              <a:buFont typeface="Arial" panose="020B0604020202020204" pitchFamily="34" charset="0"/>
              <a:buChar char="•"/>
            </a:pPr>
            <a:r>
              <a:rPr lang="en-US" sz="3800" b="1" dirty="0">
                <a:latin typeface="Cambria" panose="02040503050406030204" pitchFamily="18" charset="0"/>
                <a:ea typeface="Cambria" panose="02040503050406030204" pitchFamily="18" charset="0"/>
              </a:rPr>
              <a:t>Objectives</a:t>
            </a:r>
          </a:p>
          <a:p>
            <a:pPr marL="495300" indent="-342900" algn="just">
              <a:lnSpc>
                <a:spcPct val="150000"/>
              </a:lnSpc>
              <a:spcBef>
                <a:spcPts val="0"/>
              </a:spcBef>
              <a:buFont typeface="+mj-lt"/>
              <a:buAutoNum type="arabicPeriod"/>
            </a:pPr>
            <a:r>
              <a:rPr lang="en-US" sz="3300" dirty="0">
                <a:latin typeface="Cambria" panose="02040503050406030204" pitchFamily="18" charset="0"/>
                <a:ea typeface="Cambria" panose="02040503050406030204" pitchFamily="18" charset="0"/>
              </a:rPr>
              <a:t>Translate PIB press releases from English into 13 regional Indian languages.</a:t>
            </a:r>
            <a:endParaRPr lang="en-US" sz="3300" b="1"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mj-lt"/>
              <a:buAutoNum type="arabicPeriod"/>
            </a:pPr>
            <a:r>
              <a:rPr lang="en-US" sz="3300" dirty="0">
                <a:latin typeface="Cambria" panose="02040503050406030204" pitchFamily="18" charset="0"/>
                <a:ea typeface="Cambria" panose="02040503050406030204" pitchFamily="18" charset="0"/>
              </a:rPr>
              <a:t>Generate natural, news-style voice narration for each language.</a:t>
            </a:r>
            <a:endParaRPr lang="en-US" sz="3300" b="1"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mj-lt"/>
              <a:buAutoNum type="arabicPeriod"/>
            </a:pPr>
            <a:r>
              <a:rPr lang="en-US" sz="3300" dirty="0">
                <a:latin typeface="Cambria" panose="02040503050406030204" pitchFamily="18" charset="0"/>
                <a:ea typeface="Cambria" panose="02040503050406030204" pitchFamily="18" charset="0"/>
              </a:rPr>
              <a:t>Integrate visuals, text overlays, and narration into professional videos.</a:t>
            </a:r>
          </a:p>
          <a:p>
            <a:pPr marL="495300" indent="-342900" algn="just">
              <a:lnSpc>
                <a:spcPct val="150000"/>
              </a:lnSpc>
              <a:spcBef>
                <a:spcPts val="0"/>
              </a:spcBef>
              <a:buFont typeface="+mj-lt"/>
              <a:buAutoNum type="arabicPeriod"/>
            </a:pPr>
            <a:r>
              <a:rPr lang="en-US" sz="3300" dirty="0">
                <a:latin typeface="Cambria" panose="02040503050406030204" pitchFamily="18" charset="0"/>
                <a:ea typeface="Cambria" panose="02040503050406030204" pitchFamily="18" charset="0"/>
              </a:rPr>
              <a:t>Create an approval workflow for quality checks.</a:t>
            </a:r>
          </a:p>
          <a:p>
            <a:pPr marL="495300" indent="-342900" algn="just">
              <a:lnSpc>
                <a:spcPct val="150000"/>
              </a:lnSpc>
              <a:spcBef>
                <a:spcPts val="0"/>
              </a:spcBef>
              <a:buFont typeface="+mj-lt"/>
              <a:buAutoNum type="arabicPeriod"/>
            </a:pPr>
            <a:r>
              <a:rPr lang="en-US" sz="3300" dirty="0">
                <a:latin typeface="Cambria" panose="02040503050406030204" pitchFamily="18" charset="0"/>
                <a:ea typeface="Cambria" panose="02040503050406030204" pitchFamily="18" charset="0"/>
              </a:rPr>
              <a:t>Publish approved videos directly to social media platforms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A1A1D-CE57-8420-FF0E-5AB8E0AFCAF9}"/>
              </a:ext>
            </a:extLst>
          </p:cNvPr>
          <p:cNvSpPr>
            <a:spLocks noGrp="1"/>
          </p:cNvSpPr>
          <p:nvPr>
            <p:ph type="title"/>
          </p:nvPr>
        </p:nvSpPr>
        <p:spPr/>
        <p:txBody>
          <a:bodyPr/>
          <a:lstStyle/>
          <a:p>
            <a:r>
              <a:rPr lang="en-US" sz="2800" b="1" dirty="0">
                <a:latin typeface="Cambria" panose="02040503050406030204" pitchFamily="18" charset="0"/>
                <a:ea typeface="Cambria" panose="02040503050406030204" pitchFamily="18" charset="0"/>
              </a:rPr>
              <a:t>Background and Related work for title Selection:</a:t>
            </a:r>
            <a:br>
              <a:rPr lang="en-US" sz="2800" b="1" dirty="0">
                <a:latin typeface="Cambria" panose="02040503050406030204" pitchFamily="18" charset="0"/>
                <a:ea typeface="Cambria" panose="02040503050406030204" pitchFamily="18" charset="0"/>
              </a:rPr>
            </a:br>
            <a:endParaRPr lang="en-US" dirty="0"/>
          </a:p>
        </p:txBody>
      </p:sp>
      <p:sp>
        <p:nvSpPr>
          <p:cNvPr id="3" name="Text Placeholder 2">
            <a:extLst>
              <a:ext uri="{FF2B5EF4-FFF2-40B4-BE49-F238E27FC236}">
                <a16:creationId xmlns:a16="http://schemas.microsoft.com/office/drawing/2014/main" id="{4B7DD0B6-6EA5-83C3-7FC9-2EF5207FB47B}"/>
              </a:ext>
            </a:extLst>
          </p:cNvPr>
          <p:cNvSpPr>
            <a:spLocks noGrp="1"/>
          </p:cNvSpPr>
          <p:nvPr>
            <p:ph type="body" idx="1"/>
          </p:nvPr>
        </p:nvSpPr>
        <p:spPr/>
        <p:txBody>
          <a:bodyPr>
            <a:normAutofit/>
          </a:bodyPr>
          <a:lstStyle/>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PIB acts as the official communication channel for the Government of India.</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News agencies currently use manual workflows for translation and video creation.</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AI tools like Google Cloud TTS, </a:t>
            </a:r>
            <a:r>
              <a:rPr lang="en-US" sz="2000" dirty="0" err="1">
                <a:latin typeface="Cambria" panose="02040503050406030204" pitchFamily="18" charset="0"/>
                <a:ea typeface="Cambria" panose="02040503050406030204" pitchFamily="18" charset="0"/>
              </a:rPr>
              <a:t>MarianMT</a:t>
            </a:r>
            <a:r>
              <a:rPr lang="en-US" sz="2000" dirty="0">
                <a:latin typeface="Cambria" panose="02040503050406030204" pitchFamily="18" charset="0"/>
                <a:ea typeface="Cambria" panose="02040503050406030204" pitchFamily="18" charset="0"/>
              </a:rPr>
              <a:t>, Amazon Polly, and </a:t>
            </a:r>
            <a:r>
              <a:rPr lang="en-US" sz="2000" dirty="0" err="1">
                <a:latin typeface="Cambria" panose="02040503050406030204" pitchFamily="18" charset="0"/>
                <a:ea typeface="Cambria" panose="02040503050406030204" pitchFamily="18" charset="0"/>
              </a:rPr>
              <a:t>MoviePy</a:t>
            </a:r>
            <a:r>
              <a:rPr lang="en-US" sz="2000" dirty="0">
                <a:latin typeface="Cambria" panose="02040503050406030204" pitchFamily="18" charset="0"/>
                <a:ea typeface="Cambria" panose="02040503050406030204" pitchFamily="18" charset="0"/>
              </a:rPr>
              <a:t> offer capabilities in translation, narration, and editing but are not integrated end-to-end.</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No existing unified solution addresses all these needs for multilingual news automation.</a:t>
            </a:r>
            <a:endParaRPr lang="en-US" sz="2000" dirty="0"/>
          </a:p>
        </p:txBody>
      </p:sp>
    </p:spTree>
    <p:extLst>
      <p:ext uri="{BB962C8B-B14F-4D97-AF65-F5344CB8AC3E}">
        <p14:creationId xmlns:p14="http://schemas.microsoft.com/office/powerpoint/2010/main" val="3044527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45141"/>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r>
              <a:rPr lang="en-US" sz="2000" dirty="0">
                <a:latin typeface="Cambria" panose="02040503050406030204" pitchFamily="18" charset="0"/>
                <a:ea typeface="Cambria" panose="02040503050406030204" pitchFamily="18" charset="0"/>
              </a:rPr>
              <a:t>Government press releases, such as those from the Press Information Bureau (PIB), are often text-heavy and primarily in English, limiting accessibility for audiences with language barriers or low literacy. The challenge is to design an AI/ML system that automatically converts these press releases into engaging multilingual videos with narration, visuals, and subtitles.</a:t>
            </a:r>
          </a:p>
          <a:p>
            <a:r>
              <a:rPr lang="en-US" sz="2000" dirty="0">
                <a:latin typeface="Cambria" panose="02040503050406030204" pitchFamily="18" charset="0"/>
                <a:ea typeface="Cambria" panose="02040503050406030204" pitchFamily="18" charset="0"/>
              </a:rPr>
              <a:t>Key complexities include handling 13+ languages, ensuring accurate translation, integrating text-to-speech and video generation (e.g., GANs), and producing scalable, accessible content. Current manual methods are slow and costly, and existing tools lack seamless multilingual video generation. An automated solution can improve reach, speed, and cost efficiency while making official information more inclusive.</a:t>
            </a:r>
          </a:p>
          <a:p>
            <a:pPr marL="342900" lvl="0" indent="-190500" algn="just" rtl="0">
              <a:spcBef>
                <a:spcPts val="0"/>
              </a:spcBef>
              <a:spcAft>
                <a:spcPts val="0"/>
              </a:spcAft>
              <a:buClr>
                <a:schemeClr val="dk1"/>
              </a:buClr>
              <a:buSzPct val="100000"/>
              <a:buNone/>
            </a:pPr>
            <a:endParaRPr lang="en-US"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03E8F-4CD6-02DF-48B8-71DB5324549F}"/>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a:t>
            </a:r>
            <a:endParaRPr lang="en-US" dirty="0"/>
          </a:p>
        </p:txBody>
      </p:sp>
      <p:sp>
        <p:nvSpPr>
          <p:cNvPr id="3" name="Text Placeholder 2">
            <a:extLst>
              <a:ext uri="{FF2B5EF4-FFF2-40B4-BE49-F238E27FC236}">
                <a16:creationId xmlns:a16="http://schemas.microsoft.com/office/drawing/2014/main" id="{5123CBB1-B8ED-6683-9494-3DAA9138AC69}"/>
              </a:ext>
            </a:extLst>
          </p:cNvPr>
          <p:cNvSpPr>
            <a:spLocks noGrp="1"/>
          </p:cNvSpPr>
          <p:nvPr>
            <p:ph type="body" idx="1"/>
          </p:nvPr>
        </p:nvSpPr>
        <p:spPr/>
        <p:txBody>
          <a:bodyPr>
            <a:normAutofit lnSpcReduction="10000"/>
          </a:bodyPr>
          <a:lstStyle/>
          <a:p>
            <a:r>
              <a:rPr lang="en-US" sz="2200" dirty="0">
                <a:latin typeface="Cambria" panose="02040503050406030204" pitchFamily="18" charset="0"/>
                <a:ea typeface="Cambria" panose="02040503050406030204" pitchFamily="18" charset="0"/>
              </a:rPr>
              <a:t>Technology Stack Components:</a:t>
            </a:r>
          </a:p>
          <a:p>
            <a:pPr>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Natural Language Processing (NLP):</a:t>
            </a:r>
          </a:p>
          <a:p>
            <a:pPr marL="76200" indent="0">
              <a:buNone/>
            </a:pPr>
            <a:r>
              <a:rPr lang="en-US" sz="2200" dirty="0">
                <a:latin typeface="Cambria" panose="02040503050406030204" pitchFamily="18" charset="0"/>
                <a:ea typeface="Cambria" panose="02040503050406030204" pitchFamily="18" charset="0"/>
              </a:rPr>
              <a:t>            Hugging Face Transformers, </a:t>
            </a:r>
            <a:r>
              <a:rPr lang="en-US" sz="2200" dirty="0" err="1">
                <a:latin typeface="Cambria" panose="02040503050406030204" pitchFamily="18" charset="0"/>
                <a:ea typeface="Cambria" panose="02040503050406030204" pitchFamily="18" charset="0"/>
              </a:rPr>
              <a:t>MarianMT</a:t>
            </a:r>
            <a:r>
              <a:rPr lang="en-US" sz="2200" dirty="0">
                <a:latin typeface="Cambria" panose="02040503050406030204" pitchFamily="18" charset="0"/>
                <a:ea typeface="Cambria" panose="02040503050406030204" pitchFamily="18" charset="0"/>
              </a:rPr>
              <a:t>, Google Translate API</a:t>
            </a:r>
          </a:p>
          <a:p>
            <a:pPr>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Text-to-Speech (TTS):</a:t>
            </a:r>
            <a:endParaRPr lang="en-US" sz="2200" dirty="0">
              <a:latin typeface="Cambria" panose="02040503050406030204" pitchFamily="18" charset="0"/>
              <a:ea typeface="Cambria" panose="02040503050406030204" pitchFamily="18" charset="0"/>
            </a:endParaRPr>
          </a:p>
          <a:p>
            <a:pPr marL="76200" indent="0">
              <a:buNone/>
            </a:pPr>
            <a:r>
              <a:rPr lang="en-US" sz="2200" dirty="0">
                <a:latin typeface="Cambria" panose="02040503050406030204" pitchFamily="18" charset="0"/>
                <a:ea typeface="Cambria" panose="02040503050406030204" pitchFamily="18" charset="0"/>
              </a:rPr>
              <a:t>            Google Cloud TTS, Amazon Polly</a:t>
            </a:r>
          </a:p>
          <a:p>
            <a:pPr>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Video Processing:</a:t>
            </a:r>
            <a:endParaRPr lang="en-US" sz="2200" dirty="0">
              <a:latin typeface="Cambria" panose="02040503050406030204" pitchFamily="18" charset="0"/>
              <a:ea typeface="Cambria" panose="02040503050406030204" pitchFamily="18" charset="0"/>
            </a:endParaRPr>
          </a:p>
          <a:p>
            <a:pPr marL="76200" indent="0">
              <a:buNone/>
            </a:pPr>
            <a:r>
              <a:rPr lang="en-US" sz="2200" dirty="0">
                <a:latin typeface="Cambria" panose="02040503050406030204" pitchFamily="18" charset="0"/>
                <a:ea typeface="Cambria" panose="02040503050406030204" pitchFamily="18" charset="0"/>
              </a:rPr>
              <a:t>            </a:t>
            </a:r>
            <a:r>
              <a:rPr lang="en-US" sz="2200" dirty="0" err="1">
                <a:latin typeface="Cambria" panose="02040503050406030204" pitchFamily="18" charset="0"/>
                <a:ea typeface="Cambria" panose="02040503050406030204" pitchFamily="18" charset="0"/>
              </a:rPr>
              <a:t>MoviePy</a:t>
            </a:r>
            <a:r>
              <a:rPr lang="en-US" sz="2200" dirty="0">
                <a:latin typeface="Cambria" panose="02040503050406030204" pitchFamily="18" charset="0"/>
                <a:ea typeface="Cambria" panose="02040503050406030204" pitchFamily="18" charset="0"/>
              </a:rPr>
              <a:t>, </a:t>
            </a:r>
            <a:r>
              <a:rPr lang="en-US" sz="2200" dirty="0" err="1">
                <a:latin typeface="Cambria" panose="02040503050406030204" pitchFamily="18" charset="0"/>
                <a:ea typeface="Cambria" panose="02040503050406030204" pitchFamily="18" charset="0"/>
              </a:rPr>
              <a:t>FFmpeg</a:t>
            </a:r>
            <a:endParaRPr lang="en-US" sz="22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Backend:</a:t>
            </a:r>
            <a:endParaRPr lang="en-US" sz="2200" dirty="0">
              <a:latin typeface="Cambria" panose="02040503050406030204" pitchFamily="18" charset="0"/>
              <a:ea typeface="Cambria" panose="02040503050406030204" pitchFamily="18" charset="0"/>
            </a:endParaRPr>
          </a:p>
          <a:p>
            <a:pPr marL="76200" indent="0">
              <a:buNone/>
            </a:pPr>
            <a:r>
              <a:rPr lang="en-US" sz="2200" dirty="0">
                <a:latin typeface="Cambria" panose="02040503050406030204" pitchFamily="18" charset="0"/>
                <a:ea typeface="Cambria" panose="02040503050406030204" pitchFamily="18" charset="0"/>
              </a:rPr>
              <a:t>             Flask, </a:t>
            </a:r>
            <a:r>
              <a:rPr lang="en-US" sz="2200" dirty="0" err="1">
                <a:latin typeface="Cambria" panose="02040503050406030204" pitchFamily="18" charset="0"/>
                <a:ea typeface="Cambria" panose="02040503050406030204" pitchFamily="18" charset="0"/>
              </a:rPr>
              <a:t>FastAPI</a:t>
            </a:r>
            <a:endParaRPr lang="en-US" sz="22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Frontend/Dashboard:</a:t>
            </a:r>
            <a:endParaRPr lang="en-US" sz="2200" dirty="0">
              <a:latin typeface="Cambria" panose="02040503050406030204" pitchFamily="18" charset="0"/>
              <a:ea typeface="Cambria" panose="02040503050406030204" pitchFamily="18" charset="0"/>
            </a:endParaRPr>
          </a:p>
          <a:p>
            <a:pPr marL="76200" indent="0">
              <a:buNone/>
            </a:pPr>
            <a:r>
              <a:rPr lang="en-US" sz="2200" dirty="0">
                <a:latin typeface="Cambria" panose="02040503050406030204" pitchFamily="18" charset="0"/>
                <a:ea typeface="Cambria" panose="02040503050406030204" pitchFamily="18" charset="0"/>
              </a:rPr>
              <a:t>              ReactJS, </a:t>
            </a:r>
            <a:r>
              <a:rPr lang="en-US" sz="2200" dirty="0" err="1">
                <a:latin typeface="Cambria" panose="02040503050406030204" pitchFamily="18" charset="0"/>
                <a:ea typeface="Cambria" panose="02040503050406030204" pitchFamily="18" charset="0"/>
              </a:rPr>
              <a:t>Streamlit</a:t>
            </a:r>
            <a:endParaRPr lang="en-US" sz="22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200" b="1" dirty="0">
                <a:latin typeface="Cambria" panose="02040503050406030204" pitchFamily="18" charset="0"/>
                <a:ea typeface="Cambria" panose="02040503050406030204" pitchFamily="18" charset="0"/>
              </a:rPr>
              <a:t>Database:</a:t>
            </a:r>
            <a:endParaRPr lang="en-US" sz="2200" dirty="0">
              <a:latin typeface="Cambria" panose="02040503050406030204" pitchFamily="18" charset="0"/>
              <a:ea typeface="Cambria" panose="02040503050406030204" pitchFamily="18" charset="0"/>
            </a:endParaRPr>
          </a:p>
          <a:p>
            <a:pPr marL="76200" indent="0">
              <a:buNone/>
            </a:pPr>
            <a:r>
              <a:rPr lang="en-US" sz="2200" dirty="0">
                <a:latin typeface="Cambria" panose="02040503050406030204" pitchFamily="18" charset="0"/>
                <a:ea typeface="Cambria" panose="02040503050406030204" pitchFamily="18" charset="0"/>
              </a:rPr>
              <a:t>               MySQL</a:t>
            </a:r>
          </a:p>
          <a:p>
            <a:endParaRPr lang="en-US" dirty="0"/>
          </a:p>
        </p:txBody>
      </p:sp>
    </p:spTree>
    <p:extLst>
      <p:ext uri="{BB962C8B-B14F-4D97-AF65-F5344CB8AC3E}">
        <p14:creationId xmlns:p14="http://schemas.microsoft.com/office/powerpoint/2010/main" val="1934757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a:t>
            </a:r>
            <a:r>
              <a:rPr lang="en-US" b="1" dirty="0" err="1">
                <a:solidFill>
                  <a:schemeClr val="accent2">
                    <a:lumMod val="75000"/>
                  </a:schemeClr>
                </a:solidFill>
                <a:latin typeface="Cambria" panose="02040503050406030204" pitchFamily="18" charset="0"/>
                <a:ea typeface="Cambria" panose="02040503050406030204" pitchFamily="18" charset="0"/>
              </a:rPr>
              <a:t>Link:</a:t>
            </a:r>
            <a:r>
              <a:rPr lang="en-US" dirty="0" err="1">
                <a:solidFill>
                  <a:schemeClr val="accent2">
                    <a:lumMod val="75000"/>
                  </a:schemeClr>
                </a:solidFill>
                <a:latin typeface="Cambria" panose="02040503050406030204" pitchFamily="18" charset="0"/>
                <a:ea typeface="Cambria" panose="02040503050406030204" pitchFamily="18" charset="0"/>
              </a:rPr>
              <a:t>https</a:t>
            </a:r>
            <a:r>
              <a:rPr lang="en-US" dirty="0">
                <a:solidFill>
                  <a:schemeClr val="accent2">
                    <a:lumMod val="75000"/>
                  </a:schemeClr>
                </a:solidFill>
                <a:latin typeface="Cambria" panose="02040503050406030204" pitchFamily="18" charset="0"/>
                <a:ea typeface="Cambria" panose="02040503050406030204" pitchFamily="18" charset="0"/>
              </a:rPr>
              <a:t>://github.com/Greeshma05042005/AI-ML-based-PIB-Text-to-Video-System-in-English-13-Regional-Languages-with-GAN-powered-Automation.git</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Innovation or novel Contributions:</a:t>
            </a:r>
          </a:p>
        </p:txBody>
      </p:sp>
      <p:sp>
        <p:nvSpPr>
          <p:cNvPr id="115" name="Google Shape;115;p17"/>
          <p:cNvSpPr txBox="1">
            <a:spLocks noGrp="1"/>
          </p:cNvSpPr>
          <p:nvPr>
            <p:ph type="body" idx="1"/>
          </p:nvPr>
        </p:nvSpPr>
        <p:spPr>
          <a:xfrm>
            <a:off x="812800" y="1143000"/>
            <a:ext cx="10668000" cy="52578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sz="2000" b="1" dirty="0">
                <a:latin typeface="Cambria" panose="02040503050406030204" pitchFamily="18" charset="0"/>
                <a:ea typeface="Cambria" panose="02040503050406030204" pitchFamily="18" charset="0"/>
              </a:rPr>
              <a:t>Multilingual Automation</a:t>
            </a:r>
            <a:r>
              <a:rPr lang="en-US" sz="2000" dirty="0">
                <a:latin typeface="Cambria" panose="02040503050406030204" pitchFamily="18" charset="0"/>
                <a:ea typeface="Cambria" panose="02040503050406030204" pitchFamily="18" charset="0"/>
              </a:rPr>
              <a:t>: First-of-its-kind integration to convert PIB press releases into videos in English and 13 regional languages automatically.</a:t>
            </a:r>
          </a:p>
          <a:p>
            <a:pPr marL="342900" lvl="0" indent="-190500" algn="just" rtl="0">
              <a:lnSpc>
                <a:spcPct val="200000"/>
              </a:lnSpc>
              <a:spcBef>
                <a:spcPts val="0"/>
              </a:spcBef>
              <a:spcAft>
                <a:spcPts val="0"/>
              </a:spcAft>
              <a:buClr>
                <a:schemeClr val="dk1"/>
              </a:buClr>
              <a:buSzPct val="100000"/>
              <a:buNone/>
            </a:pPr>
            <a:r>
              <a:rPr lang="en-US" sz="2000" b="1" dirty="0">
                <a:latin typeface="Cambria" panose="02040503050406030204" pitchFamily="18" charset="0"/>
                <a:ea typeface="Cambria" panose="02040503050406030204" pitchFamily="18" charset="0"/>
              </a:rPr>
              <a:t>AI-driven Video Generation</a:t>
            </a:r>
            <a:r>
              <a:rPr lang="en-US" sz="2000" dirty="0">
                <a:latin typeface="Cambria" panose="02040503050406030204" pitchFamily="18" charset="0"/>
                <a:ea typeface="Cambria" panose="02040503050406030204" pitchFamily="18" charset="0"/>
              </a:rPr>
              <a:t>: Combines NLP, Text-to-Speech, and GAN-based video synthesis for dynamic, context-aware visuals.</a:t>
            </a:r>
            <a:r>
              <a:rPr lang="en-US" sz="2000" b="1" dirty="0">
                <a:latin typeface="Cambria" panose="02040503050406030204" pitchFamily="18" charset="0"/>
                <a:ea typeface="Cambria" panose="02040503050406030204" pitchFamily="18" charset="0"/>
              </a:rPr>
              <a:t> Seamless End-to-End Pipeline</a:t>
            </a:r>
            <a:r>
              <a:rPr lang="en-US" sz="2000" dirty="0">
                <a:latin typeface="Cambria" panose="02040503050406030204" pitchFamily="18" charset="0"/>
                <a:ea typeface="Cambria" panose="02040503050406030204" pitchFamily="18" charset="0"/>
              </a:rPr>
              <a:t>: Fully automated from text ingestion to video output, minimizing human intervention.</a:t>
            </a:r>
          </a:p>
          <a:p>
            <a:pPr marL="342900" lvl="0" indent="-190500" algn="just" rtl="0">
              <a:lnSpc>
                <a:spcPct val="200000"/>
              </a:lnSpc>
              <a:spcBef>
                <a:spcPts val="0"/>
              </a:spcBef>
              <a:spcAft>
                <a:spcPts val="0"/>
              </a:spcAft>
              <a:buClr>
                <a:schemeClr val="dk1"/>
              </a:buClr>
              <a:buSzPct val="100000"/>
              <a:buNone/>
            </a:pPr>
            <a:r>
              <a:rPr lang="en-US" sz="2000" b="1" dirty="0">
                <a:latin typeface="Cambria" panose="02040503050406030204" pitchFamily="18" charset="0"/>
                <a:ea typeface="Cambria" panose="02040503050406030204" pitchFamily="18" charset="0"/>
              </a:rPr>
              <a:t>Accessibility Focus</a:t>
            </a:r>
            <a:r>
              <a:rPr lang="en-US" sz="2000" dirty="0">
                <a:latin typeface="Cambria" panose="02040503050406030204" pitchFamily="18" charset="0"/>
                <a:ea typeface="Cambria" panose="02040503050406030204" pitchFamily="18" charset="0"/>
              </a:rPr>
              <a:t>: Videos include clear narration, subtitles, and language-appropriate voice styles for diverse audiences.</a:t>
            </a:r>
          </a:p>
          <a:p>
            <a:pPr marL="342900" lvl="0" indent="-190500" algn="just" rtl="0">
              <a:lnSpc>
                <a:spcPct val="200000"/>
              </a:lnSpc>
              <a:spcBef>
                <a:spcPts val="0"/>
              </a:spcBef>
              <a:spcAft>
                <a:spcPts val="0"/>
              </a:spcAft>
              <a:buClr>
                <a:schemeClr val="dk1"/>
              </a:buClr>
              <a:buSzPct val="100000"/>
              <a:buNone/>
            </a:pPr>
            <a:r>
              <a:rPr lang="en-US" sz="2000" b="1" dirty="0">
                <a:latin typeface="Cambria" panose="02040503050406030204" pitchFamily="18" charset="0"/>
                <a:ea typeface="Cambria" panose="02040503050406030204" pitchFamily="18" charset="0"/>
              </a:rPr>
              <a:t>Scalable Design</a:t>
            </a:r>
            <a:r>
              <a:rPr lang="en-US" sz="2000" dirty="0">
                <a:latin typeface="Cambria" panose="02040503050406030204" pitchFamily="18" charset="0"/>
                <a:ea typeface="Cambria" panose="02040503050406030204" pitchFamily="18" charset="0"/>
              </a:rPr>
              <a:t>: Capable of processing multiple releases daily with minimal latency.</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indent="-190500" algn="just">
              <a:lnSpc>
                <a:spcPct val="200000"/>
              </a:lnSpc>
              <a:spcBef>
                <a:spcPts val="0"/>
              </a:spcBef>
              <a:buSzPct val="100000"/>
              <a:buNone/>
            </a:pPr>
            <a:r>
              <a:rPr lang="en-US" sz="2000" b="1" dirty="0">
                <a:latin typeface="Cambria" panose="02040503050406030204" pitchFamily="18" charset="0"/>
                <a:ea typeface="Cambria" panose="02040503050406030204" pitchFamily="18" charset="0"/>
              </a:rPr>
              <a:t>Software and Hardware Requirements:</a:t>
            </a:r>
          </a:p>
          <a:p>
            <a:r>
              <a:rPr lang="en-US" sz="2000" b="1" dirty="0">
                <a:latin typeface="Cambria" panose="02040503050406030204" pitchFamily="18" charset="0"/>
                <a:ea typeface="Cambria" panose="02040503050406030204" pitchFamily="18" charset="0"/>
              </a:rPr>
              <a:t>Software:</a:t>
            </a:r>
            <a:endParaRPr lang="en-US" sz="20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Python 3.10+, Google Cloud SDK, Hugging Face, </a:t>
            </a:r>
            <a:r>
              <a:rPr lang="en-US" sz="2000" dirty="0" err="1">
                <a:latin typeface="Cambria" panose="02040503050406030204" pitchFamily="18" charset="0"/>
                <a:ea typeface="Cambria" panose="02040503050406030204" pitchFamily="18" charset="0"/>
              </a:rPr>
              <a:t>MoviePy</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FFmpeg</a:t>
            </a:r>
            <a:r>
              <a:rPr lang="en-US" sz="2000" dirty="0">
                <a:latin typeface="Cambria" panose="02040503050406030204" pitchFamily="18" charset="0"/>
                <a:ea typeface="Cambria" panose="02040503050406030204" pitchFamily="18" charset="0"/>
              </a:rPr>
              <a:t>, Flask, ReactJS</a:t>
            </a:r>
          </a:p>
          <a:p>
            <a:r>
              <a:rPr lang="en-US" sz="2000" b="1" dirty="0">
                <a:latin typeface="Cambria" panose="02040503050406030204" pitchFamily="18" charset="0"/>
                <a:ea typeface="Cambria" panose="02040503050406030204" pitchFamily="18" charset="0"/>
              </a:rPr>
              <a:t>Hardware:</a:t>
            </a:r>
            <a:endParaRPr lang="en-US" sz="20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Minimum: Intel i5, 8GB RAM, 256GB SSD</a:t>
            </a:r>
          </a:p>
          <a:p>
            <a:pPr>
              <a:buFont typeface="Arial" panose="020B0604020202020204" pitchFamily="34" charset="0"/>
              <a:buChar char="•"/>
            </a:pPr>
            <a:r>
              <a:rPr lang="en-US" sz="2000" dirty="0">
                <a:latin typeface="Cambria" panose="02040503050406030204" pitchFamily="18" charset="0"/>
                <a:ea typeface="Cambria" panose="02040503050406030204" pitchFamily="18" charset="0"/>
              </a:rPr>
              <a:t>Recommended: GPU-enabled system for faster processing</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5908014-1436-AA80-50D5-08F040E60C6F}"/>
              </a:ext>
            </a:extLst>
          </p:cNvPr>
          <p:cNvPicPr>
            <a:picLocks noChangeAspect="1"/>
          </p:cNvPicPr>
          <p:nvPr/>
        </p:nvPicPr>
        <p:blipFill>
          <a:blip r:embed="rId3"/>
          <a:stretch>
            <a:fillRect/>
          </a:stretch>
        </p:blipFill>
        <p:spPr>
          <a:xfrm>
            <a:off x="834190" y="1030705"/>
            <a:ext cx="10550358" cy="535430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[1] A. Vaswani et al., “Attention Is All You Need,” </a:t>
            </a:r>
            <a:r>
              <a:rPr lang="en-US" i="1" dirty="0">
                <a:latin typeface="Cambria" panose="02040503050406030204" pitchFamily="18" charset="0"/>
                <a:ea typeface="Cambria" panose="02040503050406030204" pitchFamily="18" charset="0"/>
              </a:rPr>
              <a:t>Advances in Neural Information Processing Systems</a:t>
            </a:r>
            <a:r>
              <a:rPr lang="en-US" dirty="0">
                <a:latin typeface="Cambria" panose="02040503050406030204" pitchFamily="18" charset="0"/>
                <a:ea typeface="Cambria" panose="02040503050406030204" pitchFamily="18" charset="0"/>
              </a:rPr>
              <a:t>, 2017.</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[2] Google Cloud, “Cloud Text-to-Speech Documentation,” Google, 2024.</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[3] H. </a:t>
            </a:r>
            <a:r>
              <a:rPr lang="en-US" dirty="0" err="1">
                <a:latin typeface="Cambria" panose="02040503050406030204" pitchFamily="18" charset="0"/>
                <a:ea typeface="Cambria" panose="02040503050406030204" pitchFamily="18" charset="0"/>
              </a:rPr>
              <a:t>Touvron</a:t>
            </a:r>
            <a:r>
              <a:rPr lang="en-US" dirty="0">
                <a:latin typeface="Cambria" panose="02040503050406030204" pitchFamily="18" charset="0"/>
                <a:ea typeface="Cambria" panose="02040503050406030204" pitchFamily="18" charset="0"/>
              </a:rPr>
              <a:t> et al., “Large Language Models Are Zero-Shot Translators,” </a:t>
            </a:r>
            <a:r>
              <a:rPr lang="en-US" i="1" dirty="0">
                <a:latin typeface="Cambria" panose="02040503050406030204" pitchFamily="18" charset="0"/>
                <a:ea typeface="Cambria" panose="02040503050406030204" pitchFamily="18" charset="0"/>
              </a:rPr>
              <a:t>arXiv:2302.13971</a:t>
            </a:r>
            <a:r>
              <a:rPr lang="en-US" dirty="0">
                <a:latin typeface="Cambria" panose="02040503050406030204" pitchFamily="18" charset="0"/>
                <a:ea typeface="Cambria" panose="02040503050406030204" pitchFamily="18" charset="0"/>
              </a:rPr>
              <a:t>, 2023.</a:t>
            </a:r>
          </a:p>
          <a:p>
            <a:pPr marL="152400" indent="0">
              <a:spcBef>
                <a:spcPts val="0"/>
              </a:spcBef>
              <a:buNone/>
            </a:pPr>
            <a:endParaRPr lang="en-US" sz="2000"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TotalTime>
  <Words>935</Words>
  <Application>Microsoft Office PowerPoint</Application>
  <PresentationFormat>Widescreen</PresentationFormat>
  <Paragraphs>103</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Verdana</vt:lpstr>
      <vt:lpstr>Wingdings</vt:lpstr>
      <vt:lpstr>Bioinformatics</vt:lpstr>
      <vt:lpstr>Text to Video of various PIB Press Releases using Artificial Intelligence /Machine Learning/Generative Adversarial Networks in English and 13 Regional Languages viz. Hindi, Urdu, Punjabi, Gujarati, Marathi, Telugu, Kannada, Malayalam, Tamil, Odia, Bengali, Assamese and Manipuri</vt:lpstr>
      <vt:lpstr>Problem Statement Number: PSCS_36</vt:lpstr>
      <vt:lpstr>Content</vt:lpstr>
      <vt:lpstr>Problem Statement </vt:lpstr>
      <vt:lpstr>Background and Related work for title Selection: </vt:lpstr>
      <vt:lpstr>Analysis of Problem Statement</vt:lpstr>
      <vt:lpstr>Analysis of Problem Statement</vt:lpstr>
      <vt:lpstr>Github Link</vt:lpstr>
      <vt:lpstr>Innovation or novel Contributions:</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Nichenametla Pranathi</cp:lastModifiedBy>
  <cp:revision>42</cp:revision>
  <dcterms:modified xsi:type="dcterms:W3CDTF">2025-08-13T07:06:34Z</dcterms:modified>
</cp:coreProperties>
</file>